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47"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4" d="100"/>
          <a:sy n="74" d="100"/>
        </p:scale>
        <p:origin x="82" y="16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5" r:id="rId17"/>
    <p:sldLayoutId id="2147483766" r:id="rId18"/>
    <p:sldLayoutId id="2147483769" r:id="rId19"/>
    <p:sldLayoutId id="2147483690" r:id="rId20"/>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8.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8.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achiket-mr360/Seasonal_Agriculture_performance_by_VOIS" TargetMode="External"/><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47F43-F229-2CCE-66BA-D9F76BACBAC1}"/>
            </a:ext>
          </a:extLst>
        </p:cNvPr>
        <p:cNvGrpSpPr/>
        <p:nvPr/>
      </p:nvGrpSpPr>
      <p:grpSpPr>
        <a:xfrm>
          <a:off x="0" y="0"/>
          <a:ext cx="0" cy="0"/>
          <a:chOff x="0" y="0"/>
          <a:chExt cx="0" cy="0"/>
        </a:xfrm>
      </p:grpSpPr>
      <p:sp>
        <p:nvSpPr>
          <p:cNvPr id="10" name="Text Placeholder 1">
            <a:extLst>
              <a:ext uri="{FF2B5EF4-FFF2-40B4-BE49-F238E27FC236}">
                <a16:creationId xmlns:a16="http://schemas.microsoft.com/office/drawing/2014/main" id="{A475F743-EFD8-2961-D70F-7A2AF56F1115}"/>
              </a:ext>
            </a:extLst>
          </p:cNvPr>
          <p:cNvSpPr txBox="1">
            <a:spLocks/>
          </p:cNvSpPr>
          <p:nvPr/>
        </p:nvSpPr>
        <p:spPr>
          <a:xfrm>
            <a:off x="992997" y="2668977"/>
            <a:ext cx="6125558" cy="2341699"/>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solidFill>
                  <a:schemeClr val="tx1"/>
                </a:solidFill>
                <a:latin typeface="Times New Roman" panose="02020603050405020304" pitchFamily="18" charset="0"/>
                <a:cs typeface="Times New Roman" panose="02020603050405020304" pitchFamily="18" charset="0"/>
              </a:rPr>
              <a:t>Student Name: Nachiket</a:t>
            </a:r>
          </a:p>
          <a:p>
            <a:r>
              <a:rPr lang="en-US" sz="2400" dirty="0">
                <a:solidFill>
                  <a:schemeClr val="tx1"/>
                </a:solidFill>
                <a:latin typeface="Times New Roman" panose="02020603050405020304" pitchFamily="18" charset="0"/>
                <a:cs typeface="Times New Roman" panose="02020603050405020304" pitchFamily="18" charset="0"/>
              </a:rPr>
              <a:t>College Name: Sharnbasva University </a:t>
            </a:r>
          </a:p>
          <a:p>
            <a:r>
              <a:rPr lang="en-US" sz="2400" dirty="0"/>
              <a:t>AICTE STU ID : STU696b8a245fbd91768655396</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11" name="Title 3">
            <a:extLst>
              <a:ext uri="{FF2B5EF4-FFF2-40B4-BE49-F238E27FC236}">
                <a16:creationId xmlns:a16="http://schemas.microsoft.com/office/drawing/2014/main" id="{3E400391-5CA2-C960-6281-87BEB6038436}"/>
              </a:ext>
            </a:extLst>
          </p:cNvPr>
          <p:cNvSpPr txBox="1">
            <a:spLocks/>
          </p:cNvSpPr>
          <p:nvPr/>
        </p:nvSpPr>
        <p:spPr>
          <a:xfrm>
            <a:off x="403059" y="359390"/>
            <a:ext cx="6715496" cy="1487935"/>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3000" dirty="0">
                <a:latin typeface="Times New Roman" panose="02020603050405020304" pitchFamily="18" charset="0"/>
                <a:cs typeface="Times New Roman" panose="02020603050405020304" pitchFamily="18" charset="0"/>
              </a:rPr>
              <a:t>Project Title </a:t>
            </a:r>
            <a:br>
              <a:rPr lang="en-GB" sz="3000" dirty="0">
                <a:latin typeface="Times New Roman" panose="02020603050405020304" pitchFamily="18" charset="0"/>
                <a:cs typeface="Times New Roman" panose="02020603050405020304" pitchFamily="18" charset="0"/>
              </a:rPr>
            </a:br>
            <a:r>
              <a:rPr lang="en-IN" sz="3000" dirty="0">
                <a:latin typeface="Times New Roman" panose="02020603050405020304" pitchFamily="18" charset="0"/>
                <a:cs typeface="Times New Roman" panose="02020603050405020304" pitchFamily="18" charset="0"/>
              </a:rPr>
              <a:t>Seasonal Agriculture Performance Analysis</a:t>
            </a:r>
            <a:br>
              <a:rPr lang="en-IN" sz="3000" dirty="0">
                <a:latin typeface="Times New Roman" panose="02020603050405020304" pitchFamily="18" charset="0"/>
                <a:cs typeface="Times New Roman" panose="02020603050405020304" pitchFamily="18" charset="0"/>
              </a:rPr>
            </a:br>
            <a:endParaRPr lang="en-IN" sz="3000" dirty="0">
              <a:latin typeface="Times New Roman" panose="02020603050405020304" pitchFamily="18" charset="0"/>
              <a:cs typeface="Times New Roman" panose="02020603050405020304" pitchFamily="18" charset="0"/>
            </a:endParaRPr>
          </a:p>
        </p:txBody>
      </p:sp>
      <p:sp>
        <p:nvSpPr>
          <p:cNvPr id="12" name="Text Placeholder 1">
            <a:extLst>
              <a:ext uri="{FF2B5EF4-FFF2-40B4-BE49-F238E27FC236}">
                <a16:creationId xmlns:a16="http://schemas.microsoft.com/office/drawing/2014/main" id="{BA34680C-51B0-19CD-9527-46734BE0F731}"/>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13" name="Picture 12">
            <a:extLst>
              <a:ext uri="{FF2B5EF4-FFF2-40B4-BE49-F238E27FC236}">
                <a16:creationId xmlns:a16="http://schemas.microsoft.com/office/drawing/2014/main" id="{272B83C7-DA76-9838-3693-5D9F216AD026}"/>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98131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80">
                                          <p:stCondLst>
                                            <p:cond delay="0"/>
                                          </p:stCondLst>
                                        </p:cTn>
                                        <p:tgtEl>
                                          <p:spTgt spid="11"/>
                                        </p:tgtEl>
                                      </p:cBhvr>
                                    </p:animEffect>
                                    <p:anim calcmode="lin" valueType="num">
                                      <p:cBhvr>
                                        <p:cTn id="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3" dur="26">
                                          <p:stCondLst>
                                            <p:cond delay="650"/>
                                          </p:stCondLst>
                                        </p:cTn>
                                        <p:tgtEl>
                                          <p:spTgt spid="11"/>
                                        </p:tgtEl>
                                      </p:cBhvr>
                                      <p:to x="100000" y="60000"/>
                                    </p:animScale>
                                    <p:animScale>
                                      <p:cBhvr>
                                        <p:cTn id="14" dur="166" decel="50000">
                                          <p:stCondLst>
                                            <p:cond delay="676"/>
                                          </p:stCondLst>
                                        </p:cTn>
                                        <p:tgtEl>
                                          <p:spTgt spid="11"/>
                                        </p:tgtEl>
                                      </p:cBhvr>
                                      <p:to x="100000" y="100000"/>
                                    </p:animScale>
                                    <p:animScale>
                                      <p:cBhvr>
                                        <p:cTn id="15" dur="26">
                                          <p:stCondLst>
                                            <p:cond delay="1312"/>
                                          </p:stCondLst>
                                        </p:cTn>
                                        <p:tgtEl>
                                          <p:spTgt spid="11"/>
                                        </p:tgtEl>
                                      </p:cBhvr>
                                      <p:to x="100000" y="80000"/>
                                    </p:animScale>
                                    <p:animScale>
                                      <p:cBhvr>
                                        <p:cTn id="16" dur="166" decel="50000">
                                          <p:stCondLst>
                                            <p:cond delay="1338"/>
                                          </p:stCondLst>
                                        </p:cTn>
                                        <p:tgtEl>
                                          <p:spTgt spid="11"/>
                                        </p:tgtEl>
                                      </p:cBhvr>
                                      <p:to x="100000" y="100000"/>
                                    </p:animScale>
                                    <p:animScale>
                                      <p:cBhvr>
                                        <p:cTn id="17" dur="26">
                                          <p:stCondLst>
                                            <p:cond delay="1642"/>
                                          </p:stCondLst>
                                        </p:cTn>
                                        <p:tgtEl>
                                          <p:spTgt spid="11"/>
                                        </p:tgtEl>
                                      </p:cBhvr>
                                      <p:to x="100000" y="90000"/>
                                    </p:animScale>
                                    <p:animScale>
                                      <p:cBhvr>
                                        <p:cTn id="18" dur="166" decel="50000">
                                          <p:stCondLst>
                                            <p:cond delay="1668"/>
                                          </p:stCondLst>
                                        </p:cTn>
                                        <p:tgtEl>
                                          <p:spTgt spid="11"/>
                                        </p:tgtEl>
                                      </p:cBhvr>
                                      <p:to x="100000" y="100000"/>
                                    </p:animScale>
                                    <p:animScale>
                                      <p:cBhvr>
                                        <p:cTn id="19" dur="26">
                                          <p:stCondLst>
                                            <p:cond delay="1808"/>
                                          </p:stCondLst>
                                        </p:cTn>
                                        <p:tgtEl>
                                          <p:spTgt spid="11"/>
                                        </p:tgtEl>
                                      </p:cBhvr>
                                      <p:to x="100000" y="95000"/>
                                    </p:animScale>
                                    <p:animScale>
                                      <p:cBhvr>
                                        <p:cTn id="20" dur="166" decel="50000">
                                          <p:stCondLst>
                                            <p:cond delay="1834"/>
                                          </p:stCondLst>
                                        </p:cTn>
                                        <p:tgtEl>
                                          <p:spTgt spid="1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32" dur="500"/>
                                        <p:tgtEl>
                                          <p:spTgt spid="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37" dur="500"/>
                                        <p:tgtEl>
                                          <p:spTgt spid="1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4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3875" y="1978968"/>
            <a:ext cx="7563475" cy="2593031"/>
          </a:xfrm>
        </p:spPr>
        <p:txBody>
          <a:bodyPr vert="horz" lIns="91440" tIns="45720" rIns="91440" bIns="45720" rtlCol="0" anchor="t">
            <a:noAutofit/>
          </a:bodyPr>
          <a:lstStyle/>
          <a:p>
            <a:pPr marL="0" indent="0">
              <a:lnSpc>
                <a:spcPct val="100000"/>
              </a:lnSpc>
              <a:buNone/>
            </a:pPr>
            <a:r>
              <a:rPr lang="en-IN" sz="1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analyse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779017"/>
            <a:ext cx="6995604" cy="790111"/>
          </a:xfrm>
        </p:spPr>
        <p:txBody>
          <a:bodyPr>
            <a:normAutofit/>
          </a:bodyPr>
          <a:lstStyle/>
          <a:p>
            <a:r>
              <a:rPr lang="en-US" sz="3000" dirty="0">
                <a:latin typeface="Times New Roman" panose="02020603050405020304" pitchFamily="18" charset="0"/>
                <a:cs typeface="Times New Roman" panose="02020603050405020304" pitchFamily="18" charset="0"/>
              </a:rPr>
              <a:t>PROBLEM  STATEMENT</a:t>
            </a:r>
            <a:endParaRPr lang="en-IN" sz="3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503304"/>
            <a:ext cx="6276109" cy="3265342"/>
          </a:xfrm>
        </p:spPr>
        <p:txBody>
          <a:bodyPr>
            <a:noAutofit/>
          </a:bodyPr>
          <a:lstStyle/>
          <a:p>
            <a:r>
              <a:rPr lang="en-GB" sz="3000" dirty="0">
                <a:latin typeface="Times New Roman" panose="02020603050405020304" pitchFamily="18" charset="0"/>
                <a:cs typeface="Times New Roman" panose="02020603050405020304" pitchFamily="18" charset="0"/>
              </a:rPr>
              <a:t>Project Description</a:t>
            </a:r>
            <a:br>
              <a:rPr lang="en-GB" sz="2400" dirty="0">
                <a:latin typeface="Times New Roman" panose="02020603050405020304" pitchFamily="18" charset="0"/>
                <a:cs typeface="Times New Roman" panose="02020603050405020304" pitchFamily="18" charset="0"/>
              </a:rPr>
            </a:br>
            <a:br>
              <a:rPr lang="en-GB" sz="1800" b="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In this project, I analysed agricultural data from 4,000 farm records. I first cleaned the dataset and handled the missing values before starting the main analysis. I then compared the three seasons using yield, production, profit, water usage, environmental conditions and resource usage. I also looked at crop and state-wise performance and used correlation analysis and statistical tests to understand the important relationships in the data.</a:t>
            </a:r>
            <a:br>
              <a:rPr lang="en-IN" sz="1800" b="0" dirty="0">
                <a:latin typeface="Times New Roman" panose="02020603050405020304" pitchFamily="18" charset="0"/>
                <a:cs typeface="Times New Roman" panose="02020603050405020304" pitchFamily="18" charset="0"/>
              </a:rPr>
            </a:br>
            <a:br>
              <a:rPr lang="en-GB" sz="1800" b="0" dirty="0">
                <a:latin typeface="Times New Roman" panose="02020603050405020304" pitchFamily="18" charset="0"/>
                <a:cs typeface="Times New Roman" panose="02020603050405020304" pitchFamily="18" charset="0"/>
              </a:rPr>
            </a:br>
            <a:endParaRPr lang="en-IN" sz="18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The findings from this analysis can be useful for:</a:t>
            </a:r>
          </a:p>
          <a:p>
            <a:pPr lvl="0"/>
            <a:r>
              <a:rPr lang="en-IN" sz="1800" b="1" dirty="0">
                <a:latin typeface="Times New Roman" panose="02020603050405020304" pitchFamily="18" charset="0"/>
                <a:cs typeface="Times New Roman" panose="02020603050405020304" pitchFamily="18" charset="0"/>
              </a:rPr>
              <a:t>Farmers</a:t>
            </a:r>
            <a:r>
              <a:rPr lang="en-IN" sz="1800" dirty="0">
                <a:latin typeface="Times New Roman" panose="02020603050405020304" pitchFamily="18" charset="0"/>
                <a:cs typeface="Times New Roman" panose="02020603050405020304" pitchFamily="18" charset="0"/>
              </a:rPr>
              <a:t> – to compare crop and seasonal performance. </a:t>
            </a:r>
          </a:p>
          <a:p>
            <a:pPr lvl="0"/>
            <a:r>
              <a:rPr lang="en-IN" sz="1800" b="1" dirty="0">
                <a:latin typeface="Times New Roman" panose="02020603050405020304" pitchFamily="18" charset="0"/>
                <a:cs typeface="Times New Roman" panose="02020603050405020304" pitchFamily="18" charset="0"/>
              </a:rPr>
              <a:t>Agricultural planners</a:t>
            </a:r>
            <a:r>
              <a:rPr lang="en-IN" sz="1800" dirty="0">
                <a:latin typeface="Times New Roman" panose="02020603050405020304" pitchFamily="18" charset="0"/>
                <a:cs typeface="Times New Roman" panose="02020603050405020304" pitchFamily="18" charset="0"/>
              </a:rPr>
              <a:t> – to understand resource and seasonal patterns. </a:t>
            </a:r>
          </a:p>
          <a:p>
            <a:pPr lvl="0"/>
            <a:r>
              <a:rPr lang="en-IN" sz="1800" b="1" dirty="0">
                <a:latin typeface="Times New Roman" panose="02020603050405020304" pitchFamily="18" charset="0"/>
                <a:cs typeface="Times New Roman" panose="02020603050405020304" pitchFamily="18" charset="0"/>
              </a:rPr>
              <a:t>Government agriculture departments</a:t>
            </a:r>
            <a:r>
              <a:rPr lang="en-IN" sz="1800" dirty="0">
                <a:latin typeface="Times New Roman" panose="02020603050405020304" pitchFamily="18" charset="0"/>
                <a:cs typeface="Times New Roman" panose="02020603050405020304" pitchFamily="18" charset="0"/>
              </a:rPr>
              <a:t> – to study regional performance. </a:t>
            </a:r>
          </a:p>
          <a:p>
            <a:pPr lvl="0"/>
            <a:r>
              <a:rPr lang="en-IN" sz="1800" b="1" dirty="0">
                <a:latin typeface="Times New Roman" panose="02020603050405020304" pitchFamily="18" charset="0"/>
                <a:cs typeface="Times New Roman" panose="02020603050405020304" pitchFamily="18" charset="0"/>
              </a:rPr>
              <a:t>Agricultural analysts</a:t>
            </a:r>
            <a:r>
              <a:rPr lang="en-IN" sz="1800" dirty="0">
                <a:latin typeface="Times New Roman" panose="02020603050405020304" pitchFamily="18" charset="0"/>
                <a:cs typeface="Times New Roman" panose="02020603050405020304" pitchFamily="18" charset="0"/>
              </a:rPr>
              <a:t> – to work with farming and production data. </a:t>
            </a:r>
          </a:p>
          <a:p>
            <a:pPr lvl="0"/>
            <a:r>
              <a:rPr lang="en-IN" sz="1800" b="1" dirty="0">
                <a:latin typeface="Times New Roman" panose="02020603050405020304" pitchFamily="18" charset="0"/>
                <a:cs typeface="Times New Roman" panose="02020603050405020304" pitchFamily="18" charset="0"/>
              </a:rPr>
              <a:t>Researchers and students</a:t>
            </a:r>
            <a:r>
              <a:rPr lang="en-IN" sz="1800" dirty="0">
                <a:latin typeface="Times New Roman" panose="02020603050405020304" pitchFamily="18" charset="0"/>
                <a:cs typeface="Times New Roman" panose="02020603050405020304" pitchFamily="18" charset="0"/>
              </a:rPr>
              <a:t> – for further agricultural studies.</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1188719"/>
            <a:ext cx="10046070" cy="802641"/>
          </a:xfrm>
        </p:spPr>
        <p:txBody>
          <a:bodyPr>
            <a:normAutofit/>
          </a:bodyPr>
          <a:lstStyle/>
          <a:p>
            <a:r>
              <a:rPr lang="en-US" sz="3000" dirty="0">
                <a:latin typeface="Times New Roman" panose="02020603050405020304" pitchFamily="18" charset="0"/>
                <a:cs typeface="Times New Roman" panose="02020603050405020304" pitchFamily="18" charset="0"/>
              </a:rPr>
              <a:t>WHO ARE THE END USERS?</a:t>
            </a:r>
            <a:endParaRPr lang="en-IN" sz="3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Tools and Technologies</a:t>
            </a:r>
          </a:p>
          <a:p>
            <a:pPr lvl="0"/>
            <a:r>
              <a:rPr lang="en-IN" sz="1800" b="1" dirty="0">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 used for the overall data analysis. </a:t>
            </a:r>
          </a:p>
          <a:p>
            <a:pPr lvl="0"/>
            <a:r>
              <a:rPr lang="en-IN" sz="1800" b="1" dirty="0">
                <a:latin typeface="Times New Roman" panose="02020603050405020304" pitchFamily="18" charset="0"/>
                <a:cs typeface="Times New Roman" panose="02020603050405020304" pitchFamily="18" charset="0"/>
              </a:rPr>
              <a:t>Pandas</a:t>
            </a:r>
            <a:r>
              <a:rPr lang="en-IN" sz="1800" dirty="0">
                <a:latin typeface="Times New Roman" panose="02020603050405020304" pitchFamily="18" charset="0"/>
                <a:cs typeface="Times New Roman" panose="02020603050405020304" pitchFamily="18" charset="0"/>
              </a:rPr>
              <a:t> – used for cleaning, grouping and analysing the dataset. </a:t>
            </a:r>
          </a:p>
          <a:p>
            <a:pPr lvl="0"/>
            <a:r>
              <a:rPr lang="en-IN" sz="1800" b="1" dirty="0">
                <a:latin typeface="Times New Roman" panose="02020603050405020304" pitchFamily="18" charset="0"/>
                <a:cs typeface="Times New Roman" panose="02020603050405020304" pitchFamily="18" charset="0"/>
              </a:rPr>
              <a:t>NumPy</a:t>
            </a:r>
            <a:r>
              <a:rPr lang="en-IN" sz="1800" dirty="0">
                <a:latin typeface="Times New Roman" panose="02020603050405020304" pitchFamily="18" charset="0"/>
                <a:cs typeface="Times New Roman" panose="02020603050405020304" pitchFamily="18" charset="0"/>
              </a:rPr>
              <a:t> – used for numerical calculations. </a:t>
            </a:r>
          </a:p>
          <a:p>
            <a:pPr lvl="0"/>
            <a:r>
              <a:rPr lang="en-IN" sz="1800" b="1" dirty="0">
                <a:latin typeface="Times New Roman" panose="02020603050405020304" pitchFamily="18" charset="0"/>
                <a:cs typeface="Times New Roman" panose="02020603050405020304" pitchFamily="18" charset="0"/>
              </a:rPr>
              <a:t>Matplotlib</a:t>
            </a:r>
            <a:r>
              <a:rPr lang="en-IN" sz="1800" dirty="0">
                <a:latin typeface="Times New Roman" panose="02020603050405020304" pitchFamily="18" charset="0"/>
                <a:cs typeface="Times New Roman" panose="02020603050405020304" pitchFamily="18" charset="0"/>
              </a:rPr>
              <a:t> – used to create the charts. </a:t>
            </a:r>
          </a:p>
          <a:p>
            <a:pPr lvl="0"/>
            <a:r>
              <a:rPr lang="en-IN" sz="1800" b="1" dirty="0">
                <a:latin typeface="Times New Roman" panose="02020603050405020304" pitchFamily="18" charset="0"/>
                <a:cs typeface="Times New Roman" panose="02020603050405020304" pitchFamily="18" charset="0"/>
              </a:rPr>
              <a:t>Seaborn</a:t>
            </a:r>
            <a:r>
              <a:rPr lang="en-IN" sz="1800" dirty="0">
                <a:latin typeface="Times New Roman" panose="02020603050405020304" pitchFamily="18" charset="0"/>
                <a:cs typeface="Times New Roman" panose="02020603050405020304" pitchFamily="18" charset="0"/>
              </a:rPr>
              <a:t> – used for the correlation heatmap. </a:t>
            </a:r>
          </a:p>
          <a:p>
            <a:pPr lvl="0"/>
            <a:r>
              <a:rPr lang="en-IN" sz="1800" b="1" dirty="0">
                <a:latin typeface="Times New Roman" panose="02020603050405020304" pitchFamily="18" charset="0"/>
                <a:cs typeface="Times New Roman" panose="02020603050405020304" pitchFamily="18" charset="0"/>
              </a:rPr>
              <a:t>SciPy / </a:t>
            </a:r>
            <a:r>
              <a:rPr lang="en-IN" sz="1800" b="1" dirty="0" err="1">
                <a:latin typeface="Times New Roman" panose="02020603050405020304" pitchFamily="18" charset="0"/>
                <a:cs typeface="Times New Roman" panose="02020603050405020304" pitchFamily="18" charset="0"/>
              </a:rPr>
              <a:t>Statsmodels</a:t>
            </a:r>
            <a:r>
              <a:rPr lang="en-IN" sz="1800" dirty="0">
                <a:latin typeface="Times New Roman" panose="02020603050405020304" pitchFamily="18" charset="0"/>
                <a:cs typeface="Times New Roman" panose="02020603050405020304" pitchFamily="18" charset="0"/>
              </a:rPr>
              <a:t> – used for statistical testing. </a:t>
            </a:r>
          </a:p>
          <a:p>
            <a:pPr lvl="0"/>
            <a:r>
              <a:rPr lang="en-IN" sz="1800" b="1" dirty="0">
                <a:latin typeface="Times New Roman" panose="02020603050405020304" pitchFamily="18" charset="0"/>
                <a:cs typeface="Times New Roman" panose="02020603050405020304" pitchFamily="18" charset="0"/>
              </a:rPr>
              <a:t>Jupyter Notebook / VS Code</a:t>
            </a:r>
            <a:r>
              <a:rPr lang="en-IN" sz="1800" dirty="0">
                <a:latin typeface="Times New Roman" panose="02020603050405020304" pitchFamily="18" charset="0"/>
                <a:cs typeface="Times New Roman" panose="02020603050405020304" pitchFamily="18" charset="0"/>
              </a:rPr>
              <a:t> – used to develop and run the project.</a:t>
            </a:r>
          </a:p>
          <a:p>
            <a:pPr lvl="1">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90618" y="584743"/>
            <a:ext cx="5306291" cy="847817"/>
          </a:xfrm>
        </p:spPr>
        <p:txBody>
          <a:bodyPr>
            <a:normAutofit/>
          </a:bodyPr>
          <a:lstStyle/>
          <a:p>
            <a:r>
              <a:rPr lang="en-US" sz="3000"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83676" y="68454"/>
            <a:ext cx="2981643" cy="830997"/>
          </a:xfrm>
        </p:spPr>
        <p:txBody>
          <a:bodyPr>
            <a:normAutofit/>
          </a:bodyPr>
          <a:lstStyle/>
          <a:p>
            <a:r>
              <a:rPr lang="en-GB" sz="3000" dirty="0">
                <a:latin typeface="Times New Roman" panose="02020603050405020304" pitchFamily="18" charset="0"/>
                <a:cs typeface="Times New Roman" panose="02020603050405020304" pitchFamily="18" charset="0"/>
              </a:rPr>
              <a:t>RESULTS </a:t>
            </a:r>
            <a:endParaRPr lang="en-IN" sz="3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E193070-5550-F66F-787A-17FE279BD313}"/>
              </a:ext>
            </a:extLst>
          </p:cNvPr>
          <p:cNvPicPr>
            <a:picLocks noChangeAspect="1"/>
          </p:cNvPicPr>
          <p:nvPr/>
        </p:nvPicPr>
        <p:blipFill>
          <a:blip r:embed="rId3"/>
          <a:stretch>
            <a:fillRect/>
          </a:stretch>
        </p:blipFill>
        <p:spPr>
          <a:xfrm>
            <a:off x="508499" y="932948"/>
            <a:ext cx="4621165" cy="5025601"/>
          </a:xfrm>
          <a:prstGeom prst="rect">
            <a:avLst/>
          </a:prstGeom>
        </p:spPr>
      </p:pic>
      <p:pic>
        <p:nvPicPr>
          <p:cNvPr id="9" name="Picture 8">
            <a:extLst>
              <a:ext uri="{FF2B5EF4-FFF2-40B4-BE49-F238E27FC236}">
                <a16:creationId xmlns:a16="http://schemas.microsoft.com/office/drawing/2014/main" id="{3BDC357B-ED2A-EC29-2D20-6B542BE0400C}"/>
              </a:ext>
            </a:extLst>
          </p:cNvPr>
          <p:cNvPicPr>
            <a:picLocks noChangeAspect="1"/>
          </p:cNvPicPr>
          <p:nvPr/>
        </p:nvPicPr>
        <p:blipFill>
          <a:blip r:embed="rId4"/>
          <a:stretch>
            <a:fillRect/>
          </a:stretch>
        </p:blipFill>
        <p:spPr>
          <a:xfrm>
            <a:off x="5810815" y="932948"/>
            <a:ext cx="3444538" cy="502560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82173" y="0"/>
            <a:ext cx="2981643" cy="830997"/>
          </a:xfrm>
        </p:spPr>
        <p:txBody>
          <a:bodyPr>
            <a:normAutofit/>
          </a:bodyPr>
          <a:lstStyle/>
          <a:p>
            <a:r>
              <a:rPr lang="en-GB" sz="3000" dirty="0">
                <a:latin typeface="Times New Roman" panose="02020603050405020304" pitchFamily="18" charset="0"/>
                <a:cs typeface="Times New Roman" panose="02020603050405020304" pitchFamily="18" charset="0"/>
              </a:rPr>
              <a:t>RESULTS </a:t>
            </a:r>
            <a:endParaRPr lang="en-IN" sz="3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D07A6FA-D936-CE29-2F4F-9FF041D7BD66}"/>
              </a:ext>
            </a:extLst>
          </p:cNvPr>
          <p:cNvPicPr>
            <a:picLocks noChangeAspect="1"/>
          </p:cNvPicPr>
          <p:nvPr/>
        </p:nvPicPr>
        <p:blipFill>
          <a:blip r:embed="rId3"/>
          <a:stretch>
            <a:fillRect/>
          </a:stretch>
        </p:blipFill>
        <p:spPr>
          <a:xfrm>
            <a:off x="173538" y="573535"/>
            <a:ext cx="3423985" cy="2282431"/>
          </a:xfrm>
          <a:prstGeom prst="rect">
            <a:avLst/>
          </a:prstGeom>
        </p:spPr>
      </p:pic>
      <p:pic>
        <p:nvPicPr>
          <p:cNvPr id="12" name="Picture 11">
            <a:extLst>
              <a:ext uri="{FF2B5EF4-FFF2-40B4-BE49-F238E27FC236}">
                <a16:creationId xmlns:a16="http://schemas.microsoft.com/office/drawing/2014/main" id="{1B05D352-49EB-CF20-C33D-5D888C4F572A}"/>
              </a:ext>
            </a:extLst>
          </p:cNvPr>
          <p:cNvPicPr>
            <a:picLocks noChangeAspect="1"/>
          </p:cNvPicPr>
          <p:nvPr/>
        </p:nvPicPr>
        <p:blipFill>
          <a:blip r:embed="rId4"/>
          <a:stretch>
            <a:fillRect/>
          </a:stretch>
        </p:blipFill>
        <p:spPr>
          <a:xfrm>
            <a:off x="82173" y="2952587"/>
            <a:ext cx="3491004" cy="3905413"/>
          </a:xfrm>
          <a:prstGeom prst="rect">
            <a:avLst/>
          </a:prstGeom>
        </p:spPr>
      </p:pic>
      <p:pic>
        <p:nvPicPr>
          <p:cNvPr id="14" name="Picture 13">
            <a:extLst>
              <a:ext uri="{FF2B5EF4-FFF2-40B4-BE49-F238E27FC236}">
                <a16:creationId xmlns:a16="http://schemas.microsoft.com/office/drawing/2014/main" id="{7EAB7319-FB39-BE8D-7351-7119742AFE86}"/>
              </a:ext>
            </a:extLst>
          </p:cNvPr>
          <p:cNvPicPr>
            <a:picLocks noChangeAspect="1"/>
          </p:cNvPicPr>
          <p:nvPr/>
        </p:nvPicPr>
        <p:blipFill>
          <a:blip r:embed="rId5"/>
          <a:stretch>
            <a:fillRect/>
          </a:stretch>
        </p:blipFill>
        <p:spPr>
          <a:xfrm>
            <a:off x="3811986" y="573535"/>
            <a:ext cx="3343562" cy="3343562"/>
          </a:xfrm>
          <a:prstGeom prst="rect">
            <a:avLst/>
          </a:prstGeom>
        </p:spPr>
      </p:pic>
      <p:pic>
        <p:nvPicPr>
          <p:cNvPr id="16" name="Picture 15">
            <a:extLst>
              <a:ext uri="{FF2B5EF4-FFF2-40B4-BE49-F238E27FC236}">
                <a16:creationId xmlns:a16="http://schemas.microsoft.com/office/drawing/2014/main" id="{9A036D12-90D7-7498-C454-35EA5AAB974C}"/>
              </a:ext>
            </a:extLst>
          </p:cNvPr>
          <p:cNvPicPr>
            <a:picLocks noChangeAspect="1"/>
          </p:cNvPicPr>
          <p:nvPr/>
        </p:nvPicPr>
        <p:blipFill>
          <a:blip r:embed="rId6"/>
          <a:stretch>
            <a:fillRect/>
          </a:stretch>
        </p:blipFill>
        <p:spPr>
          <a:xfrm>
            <a:off x="7394357" y="573535"/>
            <a:ext cx="3343562" cy="3343562"/>
          </a:xfrm>
          <a:prstGeom prst="rect">
            <a:avLst/>
          </a:prstGeom>
        </p:spPr>
      </p:pic>
      <p:pic>
        <p:nvPicPr>
          <p:cNvPr id="18" name="Picture 17">
            <a:extLst>
              <a:ext uri="{FF2B5EF4-FFF2-40B4-BE49-F238E27FC236}">
                <a16:creationId xmlns:a16="http://schemas.microsoft.com/office/drawing/2014/main" id="{AB8DE896-5E93-D74A-58AD-E3CF1E27D839}"/>
              </a:ext>
            </a:extLst>
          </p:cNvPr>
          <p:cNvPicPr>
            <a:picLocks noChangeAspect="1"/>
          </p:cNvPicPr>
          <p:nvPr/>
        </p:nvPicPr>
        <p:blipFill>
          <a:blip r:embed="rId7"/>
          <a:stretch>
            <a:fillRect/>
          </a:stretch>
        </p:blipFill>
        <p:spPr>
          <a:xfrm>
            <a:off x="3811985" y="4033111"/>
            <a:ext cx="6925933" cy="272097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0" y="72744"/>
            <a:ext cx="2981643" cy="561101"/>
          </a:xfrm>
        </p:spPr>
        <p:txBody>
          <a:bodyPr>
            <a:normAutofit/>
          </a:bodyPr>
          <a:lstStyle/>
          <a:p>
            <a:r>
              <a:rPr lang="en-GB" sz="3000" dirty="0">
                <a:latin typeface="Times New Roman" panose="02020603050405020304" pitchFamily="18" charset="0"/>
                <a:cs typeface="Times New Roman" panose="02020603050405020304" pitchFamily="18" charset="0"/>
              </a:rPr>
              <a:t>RESULTS </a:t>
            </a:r>
            <a:endParaRPr lang="en-IN" sz="3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01B8574-EE30-161A-9A70-2F0289FFB792}"/>
              </a:ext>
            </a:extLst>
          </p:cNvPr>
          <p:cNvPicPr>
            <a:picLocks noChangeAspect="1"/>
          </p:cNvPicPr>
          <p:nvPr/>
        </p:nvPicPr>
        <p:blipFill>
          <a:blip r:embed="rId3"/>
          <a:stretch>
            <a:fillRect/>
          </a:stretch>
        </p:blipFill>
        <p:spPr>
          <a:xfrm>
            <a:off x="147448" y="633846"/>
            <a:ext cx="3964378" cy="3605646"/>
          </a:xfrm>
          <a:prstGeom prst="rect">
            <a:avLst/>
          </a:prstGeom>
        </p:spPr>
      </p:pic>
      <p:pic>
        <p:nvPicPr>
          <p:cNvPr id="12" name="Picture 11">
            <a:extLst>
              <a:ext uri="{FF2B5EF4-FFF2-40B4-BE49-F238E27FC236}">
                <a16:creationId xmlns:a16="http://schemas.microsoft.com/office/drawing/2014/main" id="{8FF352C2-CA15-A711-7B03-3088760C1DFA}"/>
              </a:ext>
            </a:extLst>
          </p:cNvPr>
          <p:cNvPicPr>
            <a:picLocks noChangeAspect="1"/>
          </p:cNvPicPr>
          <p:nvPr/>
        </p:nvPicPr>
        <p:blipFill>
          <a:blip r:embed="rId4"/>
          <a:stretch>
            <a:fillRect/>
          </a:stretch>
        </p:blipFill>
        <p:spPr>
          <a:xfrm>
            <a:off x="4664520" y="633845"/>
            <a:ext cx="3964378" cy="3605646"/>
          </a:xfrm>
          <a:prstGeom prst="rect">
            <a:avLst/>
          </a:prstGeom>
        </p:spPr>
      </p:pic>
      <p:pic>
        <p:nvPicPr>
          <p:cNvPr id="14" name="Picture 13">
            <a:extLst>
              <a:ext uri="{FF2B5EF4-FFF2-40B4-BE49-F238E27FC236}">
                <a16:creationId xmlns:a16="http://schemas.microsoft.com/office/drawing/2014/main" id="{8FF5FA6F-F169-21D5-57BB-443D072D76C2}"/>
              </a:ext>
            </a:extLst>
          </p:cNvPr>
          <p:cNvPicPr>
            <a:picLocks noChangeAspect="1"/>
          </p:cNvPicPr>
          <p:nvPr/>
        </p:nvPicPr>
        <p:blipFill>
          <a:blip r:embed="rId5"/>
          <a:stretch>
            <a:fillRect/>
          </a:stretch>
        </p:blipFill>
        <p:spPr>
          <a:xfrm>
            <a:off x="147447" y="4298547"/>
            <a:ext cx="3964377" cy="2486709"/>
          </a:xfrm>
          <a:prstGeom prst="rect">
            <a:avLst/>
          </a:prstGeom>
        </p:spPr>
      </p:pic>
      <p:pic>
        <p:nvPicPr>
          <p:cNvPr id="16" name="Picture 15">
            <a:extLst>
              <a:ext uri="{FF2B5EF4-FFF2-40B4-BE49-F238E27FC236}">
                <a16:creationId xmlns:a16="http://schemas.microsoft.com/office/drawing/2014/main" id="{51538E3E-6130-5FCC-D7E7-B266FA46474C}"/>
              </a:ext>
            </a:extLst>
          </p:cNvPr>
          <p:cNvPicPr>
            <a:picLocks noChangeAspect="1"/>
          </p:cNvPicPr>
          <p:nvPr/>
        </p:nvPicPr>
        <p:blipFill>
          <a:blip r:embed="rId6"/>
          <a:stretch>
            <a:fillRect/>
          </a:stretch>
        </p:blipFill>
        <p:spPr>
          <a:xfrm>
            <a:off x="4640334" y="4298546"/>
            <a:ext cx="3964377" cy="248670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0" y="79644"/>
            <a:ext cx="2981643" cy="830997"/>
          </a:xfrm>
        </p:spPr>
        <p:txBody>
          <a:bodyPr>
            <a:normAutofit/>
          </a:bodyPr>
          <a:lstStyle/>
          <a:p>
            <a:r>
              <a:rPr lang="en-GB" sz="3000" dirty="0">
                <a:latin typeface="Times New Roman" panose="02020603050405020304" pitchFamily="18" charset="0"/>
                <a:cs typeface="Times New Roman" panose="02020603050405020304" pitchFamily="18" charset="0"/>
              </a:rPr>
              <a:t>RESULTS </a:t>
            </a:r>
            <a:endParaRPr lang="en-IN" sz="3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BB0C8BE-187E-6073-941A-7A9809237EE4}"/>
              </a:ext>
            </a:extLst>
          </p:cNvPr>
          <p:cNvPicPr>
            <a:picLocks noChangeAspect="1"/>
          </p:cNvPicPr>
          <p:nvPr/>
        </p:nvPicPr>
        <p:blipFill>
          <a:blip r:embed="rId3"/>
          <a:stretch>
            <a:fillRect/>
          </a:stretch>
        </p:blipFill>
        <p:spPr>
          <a:xfrm>
            <a:off x="142049" y="776738"/>
            <a:ext cx="3520745" cy="5791702"/>
          </a:xfrm>
          <a:prstGeom prst="rect">
            <a:avLst/>
          </a:prstGeom>
        </p:spPr>
      </p:pic>
      <p:pic>
        <p:nvPicPr>
          <p:cNvPr id="12" name="Picture 11">
            <a:extLst>
              <a:ext uri="{FF2B5EF4-FFF2-40B4-BE49-F238E27FC236}">
                <a16:creationId xmlns:a16="http://schemas.microsoft.com/office/drawing/2014/main" id="{A2971CAC-B64F-933B-409D-C215FB9FDD88}"/>
              </a:ext>
            </a:extLst>
          </p:cNvPr>
          <p:cNvPicPr>
            <a:picLocks noChangeAspect="1"/>
          </p:cNvPicPr>
          <p:nvPr/>
        </p:nvPicPr>
        <p:blipFill>
          <a:blip r:embed="rId4"/>
          <a:stretch>
            <a:fillRect/>
          </a:stretch>
        </p:blipFill>
        <p:spPr>
          <a:xfrm>
            <a:off x="3804843" y="776738"/>
            <a:ext cx="5333446" cy="3286107"/>
          </a:xfrm>
          <a:prstGeom prst="rect">
            <a:avLst/>
          </a:prstGeom>
        </p:spPr>
      </p:pic>
      <p:pic>
        <p:nvPicPr>
          <p:cNvPr id="14" name="Picture 13">
            <a:extLst>
              <a:ext uri="{FF2B5EF4-FFF2-40B4-BE49-F238E27FC236}">
                <a16:creationId xmlns:a16="http://schemas.microsoft.com/office/drawing/2014/main" id="{A8FAB2A0-3E2D-014D-0D95-1ED008005295}"/>
              </a:ext>
            </a:extLst>
          </p:cNvPr>
          <p:cNvPicPr>
            <a:picLocks noChangeAspect="1"/>
          </p:cNvPicPr>
          <p:nvPr/>
        </p:nvPicPr>
        <p:blipFill>
          <a:blip r:embed="rId5"/>
          <a:stretch>
            <a:fillRect/>
          </a:stretch>
        </p:blipFill>
        <p:spPr>
          <a:xfrm>
            <a:off x="3804843" y="4094017"/>
            <a:ext cx="5333446" cy="247442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119598" y="0"/>
            <a:ext cx="2981643" cy="830997"/>
          </a:xfrm>
        </p:spPr>
        <p:txBody>
          <a:bodyPr>
            <a:normAutofit/>
          </a:bodyPr>
          <a:lstStyle/>
          <a:p>
            <a:r>
              <a:rPr lang="en-GB" sz="3000" dirty="0">
                <a:latin typeface="Times New Roman" panose="02020603050405020304" pitchFamily="18" charset="0"/>
                <a:cs typeface="Times New Roman" panose="02020603050405020304" pitchFamily="18" charset="0"/>
              </a:rPr>
              <a:t>RESULTS </a:t>
            </a:r>
            <a:endParaRPr lang="en-IN" sz="3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CFC22C5-5FC8-D01A-EF46-9A72299C76F0}"/>
              </a:ext>
            </a:extLst>
          </p:cNvPr>
          <p:cNvPicPr>
            <a:picLocks noChangeAspect="1"/>
          </p:cNvPicPr>
          <p:nvPr/>
        </p:nvPicPr>
        <p:blipFill>
          <a:blip r:embed="rId3"/>
          <a:stretch>
            <a:fillRect/>
          </a:stretch>
        </p:blipFill>
        <p:spPr>
          <a:xfrm>
            <a:off x="119598" y="600213"/>
            <a:ext cx="10572647" cy="2340414"/>
          </a:xfrm>
          <a:prstGeom prst="rect">
            <a:avLst/>
          </a:prstGeom>
        </p:spPr>
      </p:pic>
      <p:pic>
        <p:nvPicPr>
          <p:cNvPr id="12" name="Picture 11">
            <a:extLst>
              <a:ext uri="{FF2B5EF4-FFF2-40B4-BE49-F238E27FC236}">
                <a16:creationId xmlns:a16="http://schemas.microsoft.com/office/drawing/2014/main" id="{19BE9E0C-11B7-C312-06A3-5596D80E4153}"/>
              </a:ext>
            </a:extLst>
          </p:cNvPr>
          <p:cNvPicPr>
            <a:picLocks noChangeAspect="1"/>
          </p:cNvPicPr>
          <p:nvPr/>
        </p:nvPicPr>
        <p:blipFill>
          <a:blip r:embed="rId4"/>
          <a:stretch>
            <a:fillRect/>
          </a:stretch>
        </p:blipFill>
        <p:spPr>
          <a:xfrm>
            <a:off x="119598" y="3014706"/>
            <a:ext cx="10572647" cy="2248095"/>
          </a:xfrm>
          <a:prstGeom prst="rect">
            <a:avLst/>
          </a:prstGeom>
        </p:spPr>
      </p:pic>
      <p:pic>
        <p:nvPicPr>
          <p:cNvPr id="14" name="Picture 13">
            <a:extLst>
              <a:ext uri="{FF2B5EF4-FFF2-40B4-BE49-F238E27FC236}">
                <a16:creationId xmlns:a16="http://schemas.microsoft.com/office/drawing/2014/main" id="{E750D2B5-7CB5-9FAA-AFD6-7B04B259890C}"/>
              </a:ext>
            </a:extLst>
          </p:cNvPr>
          <p:cNvPicPr>
            <a:picLocks noChangeAspect="1"/>
          </p:cNvPicPr>
          <p:nvPr/>
        </p:nvPicPr>
        <p:blipFill>
          <a:blip r:embed="rId5"/>
          <a:stretch>
            <a:fillRect/>
          </a:stretch>
        </p:blipFill>
        <p:spPr>
          <a:xfrm>
            <a:off x="119598" y="5336880"/>
            <a:ext cx="10572647" cy="148436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3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AF9C2E4-1D05-3C93-3E0E-BDC228A1C354}"/>
              </a:ext>
            </a:extLst>
          </p:cNvPr>
          <p:cNvSpPr txBox="1"/>
          <p:nvPr/>
        </p:nvSpPr>
        <p:spPr>
          <a:xfrm>
            <a:off x="445841" y="1272548"/>
            <a:ext cx="7118555" cy="2585323"/>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There are several ways this project could be taken further.</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machine learning to predict crop yield and profit.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historical weather data for better seasonal comparisons.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Include live market prices and weather information.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Build an interactive Power BI or web-based dashboard.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crop recommendation system using soil and environmental conditions.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 future water requirements and production.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3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D30E50F-5EC6-BA9F-F9B6-E168955944D2}"/>
              </a:ext>
            </a:extLst>
          </p:cNvPr>
          <p:cNvSpPr txBox="1"/>
          <p:nvPr/>
        </p:nvSpPr>
        <p:spPr>
          <a:xfrm>
            <a:off x="614085" y="1113420"/>
            <a:ext cx="6166162" cy="646331"/>
          </a:xfrm>
          <a:prstGeom prst="rect">
            <a:avLst/>
          </a:prstGeom>
          <a:noFill/>
        </p:spPr>
        <p:txBody>
          <a:bodyPr wrap="square">
            <a:spAutoFit/>
          </a:bodyPr>
          <a:lstStyle/>
          <a:p>
            <a:r>
              <a:rPr lang="en-IN" dirty="0">
                <a:hlinkClick r:id="rId3"/>
              </a:rPr>
              <a:t>https://github.com/nachiket-mr360/Seasonal_Agriculture_performance_by_VOIS</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Autofit/>
          </a:bodyPr>
          <a:lstStyle/>
          <a:p>
            <a:r>
              <a:rPr lang="en-IN" sz="2800">
                <a:latin typeface="Times New Roman" panose="02020603050405020304" pitchFamily="18" charset="0"/>
                <a:cs typeface="Times New Roman" panose="02020603050405020304" pitchFamily="18" charset="0"/>
              </a:rPr>
              <a:t>VOIS Course completion certificate - </a:t>
            </a:r>
            <a:br>
              <a:rPr lang="en-IN" sz="2800">
                <a:latin typeface="Times New Roman" panose="02020603050405020304" pitchFamily="18" charset="0"/>
                <a:cs typeface="Times New Roman" panose="02020603050405020304" pitchFamily="18" charset="0"/>
              </a:rPr>
            </a:br>
            <a:r>
              <a:rPr lang="en-IN" sz="2800">
                <a:latin typeface="Times New Roman" panose="02020603050405020304" pitchFamily="18" charset="0"/>
                <a:cs typeface="Times New Roman" panose="02020603050405020304" pitchFamily="18" charset="0"/>
              </a:rPr>
              <a:t>Course name- </a:t>
            </a:r>
            <a:r>
              <a:rPr lang="en-IN" sz="2800" b="0">
                <a:latin typeface="Times New Roman" panose="02020603050405020304" pitchFamily="18" charset="0"/>
                <a:cs typeface="Times New Roman" panose="02020603050405020304" pitchFamily="18" charset="0"/>
              </a:rPr>
              <a:t>Data Analysis Using Pandas</a:t>
            </a:r>
            <a:br>
              <a:rPr lang="en-IN" sz="2800" b="0">
                <a:latin typeface="Times New Roman" panose="02020603050405020304" pitchFamily="18" charset="0"/>
                <a:cs typeface="Times New Roman" panose="02020603050405020304" pitchFamily="18" charset="0"/>
              </a:rPr>
            </a:br>
            <a:br>
              <a:rPr lang="en-IN" sz="280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3DE53EF-90C2-1209-897F-ADAC66244134}"/>
              </a:ext>
            </a:extLst>
          </p:cNvPr>
          <p:cNvPicPr>
            <a:picLocks noChangeAspect="1"/>
          </p:cNvPicPr>
          <p:nvPr/>
        </p:nvPicPr>
        <p:blipFill>
          <a:blip r:embed="rId3"/>
          <a:stretch>
            <a:fillRect/>
          </a:stretch>
        </p:blipFill>
        <p:spPr>
          <a:xfrm>
            <a:off x="675957" y="1601383"/>
            <a:ext cx="6949016" cy="496705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76582886-877C-4AEC-A77F-8055EB9A0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13" name="Freeform 14">
              <a:extLst>
                <a:ext uri="{FF2B5EF4-FFF2-40B4-BE49-F238E27FC236}">
                  <a16:creationId xmlns:a16="http://schemas.microsoft.com/office/drawing/2014/main" id="{171A838D-27EA-485C-9A80-DCE624AB3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4" name="Straight Connector 13">
              <a:extLst>
                <a:ext uri="{FF2B5EF4-FFF2-40B4-BE49-F238E27FC236}">
                  <a16:creationId xmlns:a16="http://schemas.microsoft.com/office/drawing/2014/main" id="{9059F313-A1BB-425E-9626-2BD43CAC64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19ABF76A-A1AE-44BB-9ECB-D55D2FE29B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54" name="Rectangle 23">
              <a:extLst>
                <a:ext uri="{FF2B5EF4-FFF2-40B4-BE49-F238E27FC236}">
                  <a16:creationId xmlns:a16="http://schemas.microsoft.com/office/drawing/2014/main" id="{5B6D2EC4-82D3-43B8-82D6-028CB4345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5" name="Rectangle 25">
              <a:extLst>
                <a:ext uri="{FF2B5EF4-FFF2-40B4-BE49-F238E27FC236}">
                  <a16:creationId xmlns:a16="http://schemas.microsoft.com/office/drawing/2014/main" id="{520034CE-71F9-4E0F-94D8-99335CB85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Isosceles Triangle 17">
              <a:extLst>
                <a:ext uri="{FF2B5EF4-FFF2-40B4-BE49-F238E27FC236}">
                  <a16:creationId xmlns:a16="http://schemas.microsoft.com/office/drawing/2014/main" id="{1926C6C0-16F7-4CDC-B481-2D19B2F3B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7">
              <a:extLst>
                <a:ext uri="{FF2B5EF4-FFF2-40B4-BE49-F238E27FC236}">
                  <a16:creationId xmlns:a16="http://schemas.microsoft.com/office/drawing/2014/main" id="{042CE423-CE6E-4EE9-91F2-3E40EFB40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6" name="Rectangle 28">
              <a:extLst>
                <a:ext uri="{FF2B5EF4-FFF2-40B4-BE49-F238E27FC236}">
                  <a16:creationId xmlns:a16="http://schemas.microsoft.com/office/drawing/2014/main" id="{699BB4BD-31D7-434C-A6DB-E2CF3ACF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9">
              <a:extLst>
                <a:ext uri="{FF2B5EF4-FFF2-40B4-BE49-F238E27FC236}">
                  <a16:creationId xmlns:a16="http://schemas.microsoft.com/office/drawing/2014/main" id="{23D406B8-656A-4D8B-91D0-BF4202C86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Isosceles Triangle 21">
              <a:extLst>
                <a:ext uri="{FF2B5EF4-FFF2-40B4-BE49-F238E27FC236}">
                  <a16:creationId xmlns:a16="http://schemas.microsoft.com/office/drawing/2014/main" id="{83F4BFB6-D6B8-446C-8E17-3D54DCA9F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24" name="Rectangle 23">
            <a:extLst>
              <a:ext uri="{FF2B5EF4-FFF2-40B4-BE49-F238E27FC236}">
                <a16:creationId xmlns:a16="http://schemas.microsoft.com/office/drawing/2014/main" id="{DD6BC9EB-F181-48AB-BCA2-3D1DB20D2D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CC0D820-C555-D1E8-2430-E95D10578DAD}"/>
              </a:ext>
            </a:extLst>
          </p:cNvPr>
          <p:cNvSpPr>
            <a:spLocks noGrp="1"/>
          </p:cNvSpPr>
          <p:nvPr>
            <p:ph type="title"/>
          </p:nvPr>
        </p:nvSpPr>
        <p:spPr>
          <a:xfrm>
            <a:off x="1507066" y="999460"/>
            <a:ext cx="5698067" cy="4479852"/>
          </a:xfrm>
        </p:spPr>
        <p:txBody>
          <a:bodyPr vert="horz" lIns="91440" tIns="45720" rIns="91440" bIns="45720" rtlCol="0" anchor="ctr">
            <a:normAutofit/>
          </a:bodyPr>
          <a:lstStyle/>
          <a:p>
            <a:pPr algn="r"/>
            <a:r>
              <a:rPr lang="en-US" sz="5400"/>
              <a:t>Thank you</a:t>
            </a:r>
          </a:p>
        </p:txBody>
      </p:sp>
      <p:sp>
        <p:nvSpPr>
          <p:cNvPr id="26" name="Isosceles Triangle 25">
            <a:extLst>
              <a:ext uri="{FF2B5EF4-FFF2-40B4-BE49-F238E27FC236}">
                <a16:creationId xmlns:a16="http://schemas.microsoft.com/office/drawing/2014/main" id="{D33AAA80-39DC-4020-9BFF-0718F35C7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57" name="Straight Connector 56">
            <a:extLst>
              <a:ext uri="{FF2B5EF4-FFF2-40B4-BE49-F238E27FC236}">
                <a16:creationId xmlns:a16="http://schemas.microsoft.com/office/drawing/2014/main" id="{C9C5D90B-7EE3-4D26-AB7D-A5A3A6E112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1639186"/>
            <a:ext cx="0" cy="3200400"/>
          </a:xfrm>
          <a:prstGeom prst="line">
            <a:avLst/>
          </a:prstGeom>
        </p:spPr>
        <p:style>
          <a:lnRef idx="1">
            <a:schemeClr val="accent1"/>
          </a:lnRef>
          <a:fillRef idx="0">
            <a:schemeClr val="accent1"/>
          </a:fillRef>
          <a:effectRef idx="0">
            <a:schemeClr val="accent1"/>
          </a:effectRef>
          <a:fontRef idx="minor">
            <a:schemeClr val="tx1"/>
          </a:fontRef>
        </p:style>
      </p:cxnSp>
      <p:sp>
        <p:nvSpPr>
          <p:cNvPr id="58" name="Isosceles Triangle 57">
            <a:extLst>
              <a:ext uri="{FF2B5EF4-FFF2-40B4-BE49-F238E27FC236}">
                <a16:creationId xmlns:a16="http://schemas.microsoft.com/office/drawing/2014/main" id="{1177F295-741F-4EFF-B0CA-BE69295AD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11349404" y="1217756"/>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768</TotalTime>
  <Words>440</Words>
  <Application>Microsoft Office PowerPoint</Application>
  <PresentationFormat>Widescreen</PresentationFormat>
  <Paragraphs>41</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PowerPoint Presentation</vt:lpstr>
      <vt:lpstr>PROBLEM  STATEMENT</vt:lpstr>
      <vt:lpstr>Project Description  In this project, I analysed agricultural data from 4,000 farm records. I first cleaned the dataset and handled the missing values before starting the main analysis. I then compared the three seasons using yield, production, profit, water usage, environmental conditions and resource usage. I also looked at crop and state-wise performance and used correlation analysis and statistical tests to understand the important relationships in the data.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Analysis Using Pandas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nachiket chavan</cp:lastModifiedBy>
  <cp:revision>101</cp:revision>
  <dcterms:created xsi:type="dcterms:W3CDTF">2021-07-11T13:13:15Z</dcterms:created>
  <dcterms:modified xsi:type="dcterms:W3CDTF">2026-09-05T16:31:56Z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